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Logical error after 5 rounds, Kingston median noise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scale 1</c:v>
                </c:pt>
              </c:strCache>
            </c:strRef>
          </c:tx>
          <c:spPr>
            <a:solidFill>
              <a:srgbClr val="1F6F7A"/>
            </a:solidFill>
          </c:spPr>
          <c:cat>
            <c:strRef>
              <c:f>Sheet1!$A$2:$A$5</c:f>
              <c:strCache>
                <c:ptCount val="4"/>
                <c:pt idx="0">
                  <c:v>d = 1</c:v>
                </c:pt>
                <c:pt idx="1">
                  <c:v>d = 2 (kept shots)</c:v>
                </c:pt>
                <c:pt idx="2">
                  <c:v>d = 3</c:v>
                </c:pt>
                <c:pt idx="3">
                  <c:v>d = 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5.371</c:v>
                </c:pt>
                <c:pt idx="1">
                  <c:v>0.18096971299016867</c:v>
                </c:pt>
                <c:pt idx="2">
                  <c:v>3.3295</c:v>
                </c:pt>
                <c:pt idx="3">
                  <c:v>1.526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scale 0.5</c:v>
                </c:pt>
              </c:strCache>
            </c:strRef>
          </c:tx>
          <c:spPr>
            <a:solidFill>
              <a:srgbClr val="E89B2E"/>
            </a:solidFill>
          </c:spPr>
          <c:cat>
            <c:strRef>
              <c:f>Sheet1!$A$2:$A$5</c:f>
              <c:strCache>
                <c:ptCount val="4"/>
                <c:pt idx="0">
                  <c:v>d = 1</c:v>
                </c:pt>
                <c:pt idx="1">
                  <c:v>d = 2 (kept shots)</c:v>
                </c:pt>
                <c:pt idx="2">
                  <c:v>d = 3</c:v>
                </c:pt>
                <c:pt idx="3">
                  <c:v>d = 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2.76</c:v>
                </c:pt>
                <c:pt idx="1">
                  <c:v>0.03581892815439391</c:v>
                </c:pt>
                <c:pt idx="2">
                  <c:v>0.9520000000000001</c:v>
                </c:pt>
                <c:pt idx="3">
                  <c:v>0.21250000000000002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0BBBE"/>
            </a:solidFill>
          </a:ln>
        </c:spPr>
        <c:txPr>
          <a:bodyPr/>
          <a:lstStyle/>
          <a:p>
            <a:pPr>
              <a:defRPr>
                <a:solidFill>
                  <a:srgbClr val="5B6B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EE0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B6B70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vs PyMatching</c:v>
                </c:pt>
              </c:strCache>
            </c:strRef>
          </c:tx>
          <c:spPr>
            <a:solidFill>
              <a:srgbClr val="1F6F7A"/>
            </a:solidFill>
          </c:spPr>
          <c:cat>
            <c:strRef>
              <c:f>Sheet1!$A$2:$A$9</c:f>
              <c:strCache>
                <c:ptCount val="8"/>
                <c:pt idx="0">
                  <c:v>aachen</c:v>
                </c:pt>
                <c:pt idx="1">
                  <c:v>kingston</c:v>
                </c:pt>
                <c:pt idx="2">
                  <c:v>marrakesh</c:v>
                </c:pt>
                <c:pt idx="3">
                  <c:v>fez</c:v>
                </c:pt>
                <c:pt idx="4">
                  <c:v>torino</c:v>
                </c:pt>
                <c:pt idx="5">
                  <c:v>sherbrooke</c:v>
                </c:pt>
                <c:pt idx="6">
                  <c:v>brisbane</c:v>
                </c:pt>
                <c:pt idx="7">
                  <c:v>kyiv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0.7404867256637168</c:v>
                </c:pt>
                <c:pt idx="1">
                  <c:v>0.9162074325279073</c:v>
                </c:pt>
                <c:pt idx="2">
                  <c:v>0.895275456251066</c:v>
                </c:pt>
                <c:pt idx="3">
                  <c:v>0.8786616592693752</c:v>
                </c:pt>
                <c:pt idx="4">
                  <c:v>1.0493365726032517</c:v>
                </c:pt>
                <c:pt idx="5">
                  <c:v>1.0181782178217822</c:v>
                </c:pt>
                <c:pt idx="6">
                  <c:v>0.9897542898072311</c:v>
                </c:pt>
                <c:pt idx="7">
                  <c:v>0.9624794674505057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vs correlated PyMatching</c:v>
                </c:pt>
              </c:strCache>
            </c:strRef>
          </c:tx>
          <c:spPr>
            <a:solidFill>
              <a:srgbClr val="E89B2E"/>
            </a:solidFill>
          </c:spPr>
          <c:cat>
            <c:strRef>
              <c:f>Sheet1!$A$2:$A$9</c:f>
              <c:strCache>
                <c:ptCount val="8"/>
                <c:pt idx="0">
                  <c:v>aachen</c:v>
                </c:pt>
                <c:pt idx="1">
                  <c:v>kingston</c:v>
                </c:pt>
                <c:pt idx="2">
                  <c:v>marrakesh</c:v>
                </c:pt>
                <c:pt idx="3">
                  <c:v>fez</c:v>
                </c:pt>
                <c:pt idx="4">
                  <c:v>torino</c:v>
                </c:pt>
                <c:pt idx="5">
                  <c:v>sherbrooke</c:v>
                </c:pt>
                <c:pt idx="6">
                  <c:v>brisbane</c:v>
                </c:pt>
                <c:pt idx="7">
                  <c:v>kyiv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1.1856181367339709</c:v>
                </c:pt>
                <c:pt idx="1">
                  <c:v>1.2063255813953488</c:v>
                </c:pt>
                <c:pt idx="2">
                  <c:v>1.1406736689605215</c:v>
                </c:pt>
                <c:pt idx="3">
                  <c:v>1.1563623292595255</c:v>
                </c:pt>
                <c:pt idx="4">
                  <c:v>1.2957692307692308</c:v>
                </c:pt>
                <c:pt idx="5">
                  <c:v>1.2035485230092224</c:v>
                </c:pt>
                <c:pt idx="6">
                  <c:v>1.1624300501078966</c:v>
                </c:pt>
                <c:pt idx="7">
                  <c:v>1.1024409565777096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0BBBE"/>
            </a:solidFill>
          </a:ln>
        </c:spPr>
        <c:txPr>
          <a:bodyPr/>
          <a:lstStyle/>
          <a:p>
            <a:pPr>
              <a:defRPr>
                <a:solidFill>
                  <a:srgbClr val="5B6B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4"/>
          <c:min val="0.6"/>
        </c:scaling>
        <c:delete val="0"/>
        <c:axPos val="l"/>
        <c:majorGridlines>
          <c:spPr>
            <a:ln>
              <a:solidFill>
                <a:srgbClr val="D5DEE0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B6B70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Windows per second (d rounds each)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windows per second</c:v>
                </c:pt>
              </c:strCache>
            </c:strRef>
          </c:tx>
          <c:spPr>
            <a:solidFill>
              <a:srgbClr val="1F6F7A"/>
            </a:solidFill>
          </c:spPr>
          <c:cat>
            <c:strRef>
              <c:f>Sheet1!$A$2:$A$7</c:f>
              <c:strCache>
                <c:ptCount val="6"/>
                <c:pt idx="0">
                  <c:v>d = 3</c:v>
                </c:pt>
                <c:pt idx="1">
                  <c:v>d = 5</c:v>
                </c:pt>
                <c:pt idx="2">
                  <c:v>d = 7</c:v>
                </c:pt>
                <c:pt idx="3">
                  <c:v>d = 9</c:v>
                </c:pt>
                <c:pt idx="4">
                  <c:v>d = 11</c:v>
                </c:pt>
                <c:pt idx="5">
                  <c:v>d = 13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4200.906</c:v>
                </c:pt>
                <c:pt idx="1">
                  <c:v>2329.808</c:v>
                </c:pt>
                <c:pt idx="2">
                  <c:v>1170.872</c:v>
                </c:pt>
                <c:pt idx="3">
                  <c:v>622.47</c:v>
                </c:pt>
                <c:pt idx="4">
                  <c:v>359.728</c:v>
                </c:pt>
                <c:pt idx="5">
                  <c:v>223.832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0BBBE"/>
            </a:solidFill>
          </a:ln>
        </c:spPr>
        <c:txPr>
          <a:bodyPr/>
          <a:lstStyle/>
          <a:p>
            <a:pPr>
              <a:defRPr>
                <a:solidFill>
                  <a:srgbClr val="5B6B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EE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B6B7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show the team how to run surface code memory experiments with real device calibration data, and what one FPGA card adds.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box is one module of the repository. The CSV is the only device specific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come from results/summary.json; see the results section for the full picture. The key message: against correlated matching the pre-decoder does not pay at d =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dates matter: Kingston and Aachen are April 2026, the others February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teaching example needs only stim, pymatching and numpy. The full pipeline needs NVIDIA's code and the gated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command for every distance. Scale 0.5 means a device with half of every error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explain detection versus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200,000 shots at d = 5 take about 10 minutes on 8 CPU threads with the INT8 model; drop --shots for a quick 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 CSV in IBM's calibration layout loads; extra columns are ignored.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Below 1 means pre-decoder plus PyMatching fails less often than the baseline. Teal: plain PyMatching. Amber: PyMatching with correlations, which needs no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 are significant at p &lt; 0.05 in a paired sign test over all placements and 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median placement both graphs are identical by construction, so only best and screened placements are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card, both kernel instances, two launches in flight. Latency is one window through PCIe with XRT overheads, not a real time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these out loud; they are also in docs/LIMITATIONS.md.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team which device CSVs they want to try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920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</a:rPr>
              <a:t>Calibration aware neural pre-decoding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6F0F1"/>
                </a:solidFill>
                <a:latin typeface="Calibri"/>
              </a:rPr>
              <a:t>Real IBM calibration data, NVIDIA's pre-decoder and PyMatching, on one Alveo U55C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937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6F0F1"/>
                </a:solidFill>
                <a:latin typeface="Calibri"/>
              </a:rPr>
              <a:t>Nasir Ali, C-DAC Noida</a:t>
            </a:r>
          </a:p>
          <a:p>
            <a:pPr algn="l"/>
            <a:r>
              <a:rPr sz="1600" b="0">
                <a:solidFill>
                  <a:srgbClr val="E6F0F1"/>
                </a:solidFill>
                <a:latin typeface="Calibri"/>
              </a:rPr>
              <a:t>Team walkthrough: run d = 1, 2, 3 and 5 yourself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B70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0"/>
                </a:solidFill>
                <a:latin typeface="Calibri"/>
              </a:rPr>
              <a:t>Calibration aware pre-decoding on one U55C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3A"/>
                </a:solidFill>
                <a:latin typeface="Cambria"/>
              </a:rPr>
              <a:t>From a calibration CSV to a decoded logical qubit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057400" cy="2743200"/>
          </a:xfrm>
          <a:prstGeom prst="roundRect">
            <a:avLst>
              <a:gd name="adj" fmla="val 6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6F7A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3A"/>
                </a:solidFill>
                <a:latin typeface="Calibri"/>
              </a:rPr>
              <a:t>Calibration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3A"/>
                </a:solidFill>
                <a:latin typeface="Calibri"/>
              </a:rPr>
              <a:t>T1, T2, readout, sx and CZ or ECR error per qubit and coupler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B70"/>
                </a:solidFill>
                <a:latin typeface="Courier New"/>
              </a:rPr>
              <a:t>calib/ibm_csv.py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24328" y="3337560"/>
            <a:ext cx="210312" cy="274320"/>
          </a:xfrm>
          <a:prstGeom prst="rightArrow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2928" y="2103120"/>
            <a:ext cx="2057400" cy="2743200"/>
          </a:xfrm>
          <a:prstGeom prst="roundRect">
            <a:avLst>
              <a:gd name="adj" fmla="val 6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402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6F7A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834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3A"/>
                </a:solidFill>
                <a:latin typeface="Calibri"/>
              </a:rPr>
              <a:t>Noise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33375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3A"/>
                </a:solidFill>
                <a:latin typeface="Calibri"/>
              </a:rPr>
              <a:t>every fault location gets its own qubit's or coupler's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443484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B70"/>
                </a:solidFill>
                <a:latin typeface="Courier New"/>
              </a:rPr>
              <a:t>calib/noise.py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28616" y="3337560"/>
            <a:ext cx="210312" cy="274320"/>
          </a:xfrm>
          <a:prstGeom prst="rightArrow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57216" y="2103120"/>
            <a:ext cx="2057400" cy="2743200"/>
          </a:xfrm>
          <a:prstGeom prst="roundRect">
            <a:avLst>
              <a:gd name="adj" fmla="val 6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096" y="22402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6F7A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834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3A"/>
                </a:solidFill>
                <a:latin typeface="Calibri"/>
              </a:rPr>
              <a:t>Syndromes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33375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3A"/>
                </a:solidFill>
                <a:latin typeface="Calibri"/>
              </a:rPr>
              <a:t>Stim samples detector events of a d x d x d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443484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B70"/>
                </a:solidFill>
                <a:latin typeface="Courier New"/>
              </a:rPr>
              <a:t>Stim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32904" y="3337560"/>
            <a:ext cx="210312" cy="274320"/>
          </a:xfrm>
          <a:prstGeom prst="rightArrow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61504" y="2103120"/>
            <a:ext cx="2057400" cy="2743200"/>
          </a:xfrm>
          <a:prstGeom prst="roundRect">
            <a:avLst>
              <a:gd name="adj" fmla="val 6000"/>
            </a:avLst>
          </a:prstGeom>
          <a:solidFill>
            <a:srgbClr val="E89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4" y="22402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2E3A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4" y="2834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3A"/>
                </a:solidFill>
                <a:latin typeface="Calibri"/>
              </a:rPr>
              <a:t>Pre-decoder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4" y="33375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3A"/>
                </a:solidFill>
                <a:latin typeface="Calibri"/>
              </a:rPr>
              <a:t>NVIDIA Fast network, INT8, removes local errors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4" y="443484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B70"/>
                </a:solidFill>
                <a:latin typeface="Courier New"/>
              </a:rPr>
              <a:t>U55C card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537192" y="3337560"/>
            <a:ext cx="210312" cy="274320"/>
          </a:xfrm>
          <a:prstGeom prst="rightArrow">
            <a:avLst/>
          </a:prstGeom>
          <a:solidFill>
            <a:srgbClr val="1F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65792" y="2103120"/>
            <a:ext cx="2057400" cy="2743200"/>
          </a:xfrm>
          <a:prstGeom prst="roundRect">
            <a:avLst>
              <a:gd name="adj" fmla="val 6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48672" y="22402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6F7A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28346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E3A"/>
                </a:solidFill>
                <a:latin typeface="Calibri"/>
              </a:rPr>
              <a:t>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3337560"/>
            <a:ext cx="1691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3A"/>
                </a:solidFill>
                <a:latin typeface="Calibri"/>
              </a:rPr>
              <a:t>PyMatching decodes what is left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443484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B70"/>
                </a:solidFill>
                <a:latin typeface="Courier New"/>
              </a:rPr>
              <a:t>harness/pipeline.py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B70"/>
                </a:solidFill>
                <a:latin typeface="Calibri"/>
              </a:rPr>
              <a:t>No IBM account is needed: the eight device snapshots ship with qiskit-ibm-runtime (Apache 2.0) and are already exported to data/calibration/.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B70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0"/>
                </a:solidFill>
                <a:latin typeface="Calibri"/>
              </a:rPr>
              <a:t>Calibration aware pre-decoding on one U55C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3A"/>
                </a:solidFill>
                <a:latin typeface="Cambria"/>
              </a:rPr>
              <a:t>What we found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533573" cy="1737360"/>
          </a:xfrm>
          <a:prstGeom prst="roundRect">
            <a:avLst>
              <a:gd name="adj" fmla="val 6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07637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6F7A"/>
                </a:solidFill>
                <a:latin typeface="Cambria"/>
              </a:rPr>
              <a:t>44 of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207637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3A"/>
                </a:solidFill>
                <a:latin typeface="Calibri"/>
              </a:rPr>
              <a:t>d = 5 points where the INT8 pre-decoder significantly beats plain PyMatching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2253" y="1645920"/>
            <a:ext cx="2533573" cy="1737360"/>
          </a:xfrm>
          <a:prstGeom prst="roundRect">
            <a:avLst>
              <a:gd name="adj" fmla="val 6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853" y="1828800"/>
            <a:ext cx="207637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6F7A"/>
                </a:solidFill>
                <a:latin typeface="Cambria"/>
              </a:rPr>
              <a:t>0 of 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853" y="2606040"/>
            <a:ext cx="207637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3A"/>
                </a:solidFill>
                <a:latin typeface="Calibri"/>
              </a:rPr>
              <a:t>d = 5 points where it beats correlated PyMatching (51 significantly worse)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645920"/>
            <a:ext cx="2533573" cy="1737360"/>
          </a:xfrm>
          <a:prstGeom prst="roundRect">
            <a:avLst>
              <a:gd name="adj" fmla="val 6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4467" y="1828800"/>
            <a:ext cx="207637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6F7A"/>
                </a:solidFill>
                <a:latin typeface="Cambria"/>
              </a:rPr>
              <a:t>18 of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4467" y="2606040"/>
            <a:ext cx="207637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3A"/>
                </a:solidFill>
                <a:latin typeface="Calibri"/>
              </a:rPr>
              <a:t>card runs bit exact against the integer model (both kernel instances)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9481" y="1645920"/>
            <a:ext cx="2533573" cy="1737360"/>
          </a:xfrm>
          <a:prstGeom prst="roundRect">
            <a:avLst>
              <a:gd name="adj" fmla="val 6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8081" y="1828800"/>
            <a:ext cx="207637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6F7A"/>
                </a:solidFill>
                <a:latin typeface="Cambria"/>
              </a:rPr>
              <a:t>2,330/s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8081" y="2606040"/>
            <a:ext cx="207637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3A"/>
                </a:solidFill>
                <a:latin typeface="Calibri"/>
              </a:rPr>
              <a:t>d = 5 windows per second on one card (1.50 ms for a single window)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10944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0B2E3A"/>
                </a:solidFill>
                <a:latin typeface="Calibri"/>
              </a:rPr>
              <a:t>Strongest baseline wins at d = 5: </a:t>
            </a:r>
            <a:r>
              <a:rPr sz="1600">
                <a:solidFill>
                  <a:srgbClr val="0B2E3A"/>
                </a:solidFill>
                <a:latin typeface="Calibri"/>
              </a:rPr>
              <a:t>PyMatching with correlations, no network at all, fails less often than pre-decoder + PyMatching on every device and setting.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0B2E3A"/>
                </a:solidFill>
                <a:latin typeface="Calibri"/>
              </a:rPr>
              <a:t>Calibration matters: </a:t>
            </a:r>
            <a:r>
              <a:rPr sz="1600">
                <a:solidFill>
                  <a:srgbClr val="0B2E3A"/>
                </a:solidFill>
                <a:latin typeface="Calibri"/>
              </a:rPr>
              <a:t>per qubit rates improve matching weights; and the network, trained on uniform noise, loses its gain when qubits differ strongly.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b="1" sz="1600">
                <a:solidFill>
                  <a:srgbClr val="0B2E3A"/>
                </a:solidFill>
                <a:latin typeface="Calibri"/>
              </a:rPr>
              <a:t>Honest limits: </a:t>
            </a:r>
            <a:r>
              <a:rPr sz="1600">
                <a:solidFill>
                  <a:srgbClr val="0B2E3A"/>
                </a:solidFill>
                <a:latin typeface="Calibri"/>
              </a:rPr>
              <a:t>simulated circuits with calibrated rates, not runs on IBM hardware; the card is no faster than a large CPU for this small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B70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0"/>
                </a:solidFill>
                <a:latin typeface="Calibri"/>
              </a:rPr>
              <a:t>Calibration aware pre-decoding on one U55C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3A"/>
                </a:solidFill>
                <a:latin typeface="Cambria"/>
              </a:rPr>
              <a:t>Eight IBM devices, as calibrated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B70"/>
                </a:solidFill>
                <a:latin typeface="Calibri"/>
              </a:rPr>
              <a:t>Medians over usable qubits and couplers, from data/calibration/*.csv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5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712"/>
                <a:gridCol w="1232712"/>
                <a:gridCol w="1232712"/>
                <a:gridCol w="1232712"/>
                <a:gridCol w="1232712"/>
                <a:gridCol w="1232712"/>
                <a:gridCol w="1232712"/>
                <a:gridCol w="1232712"/>
                <a:gridCol w="123271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Device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Snapshot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2q gate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2q error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Readout error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T1 (us)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T2 (us)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Readout (ns)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aachen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Heron r3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2026-04-17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CZ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0.15%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0.74%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232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2584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kingston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Heron r3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2026-04-15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CZ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0.18%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0.95%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283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2280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marrakesh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Heron r2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2025-02-26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CZ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0.32%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0.95%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197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2584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fez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Heron r2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2025-02-26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CZ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0.38%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0.76%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1560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torino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Heron r1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2025-02-26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CZ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0.41%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2.29%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185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1560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sherbrooke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Eagle r3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2025-02-26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ECR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0.75%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1.97%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1216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brisbane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Eagle r3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2025-02-26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ECR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0.77%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2.00%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232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1300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kyiv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Eagle r3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2025-02-26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ECR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1.15%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1.27%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1244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B70"/>
                </a:solidFill>
                <a:latin typeface="Calibri"/>
              </a:rPr>
              <a:t>Readout errors are 3 to 10 times the two qubit errors, and data qubits idle through 1.3 to 2.6 us of readout: both dominate the noise.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</a:rPr>
              <a:t>Hands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6F0F1"/>
                </a:solidFill>
                <a:latin typeface="Calibri"/>
              </a:rPr>
              <a:t>Set up once, then run d = 1, 2, 3 and 5 on a laptop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B70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0"/>
                </a:solidFill>
                <a:latin typeface="Calibri"/>
              </a:rPr>
              <a:t>Calibration aware pre-decoding on one U55C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3A"/>
                </a:solidFill>
                <a:latin typeface="Cambria"/>
              </a:rPr>
              <a:t>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7498079" cy="3840480"/>
          </a:xfrm>
          <a:prstGeom prst="roundRect">
            <a:avLst>
              <a:gd name="adj" fmla="val 6000"/>
            </a:avLst>
          </a:prstGeom>
          <a:solidFill>
            <a:srgbClr val="0B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7040879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git clone https://github.com/nasir26/u55c-calibrated-predecoder</a:t>
            </a:r>
          </a:p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cd u55c-calibrated-predecoder</a:t>
            </a:r>
          </a:p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python3.11 -m venv .venv &amp;&amp; source .venv/bin/activate</a:t>
            </a:r>
          </a:p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pip install -r requirements.txt</a:t>
            </a:r>
          </a:p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/>
            </a:r>
          </a:p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# only for the full pre-decoder pipeline:</a:t>
            </a:r>
          </a:p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scripts/setup_reference.sh        # NVIDIA code, pinned commit</a:t>
            </a:r>
          </a:p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HF_TOKEN=... scripts/fetch_weights.sh fast</a:t>
            </a:r>
          </a:p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pytest -q                          #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3200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b="1" sz="1500">
                <a:solidFill>
                  <a:srgbClr val="0B2E3A"/>
                </a:solidFill>
                <a:latin typeface="Calibri"/>
              </a:rPr>
              <a:t>Laptop: </a:t>
            </a:r>
            <a:r>
              <a:rPr sz="1500">
                <a:solidFill>
                  <a:srgbClr val="0B2E3A"/>
                </a:solidFill>
                <a:latin typeface="Calibri"/>
              </a:rPr>
              <a:t>steps 1 to 4 are enough for d = 1, 2, 3, 5.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b="1" sz="1500">
                <a:solidFill>
                  <a:srgbClr val="0B2E3A"/>
                </a:solidFill>
                <a:latin typeface="Calibri"/>
              </a:rPr>
              <a:t>Weights: </a:t>
            </a:r>
            <a:r>
              <a:rPr sz="1500">
                <a:solidFill>
                  <a:srgbClr val="0B2E3A"/>
                </a:solidFill>
                <a:latin typeface="Calibri"/>
              </a:rPr>
              <a:t>accept NVIDIA's Open Model License on Hugging Face first.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b="1" sz="1500">
                <a:solidFill>
                  <a:srgbClr val="0B2E3A"/>
                </a:solidFill>
                <a:latin typeface="Calibri"/>
              </a:rPr>
              <a:t>Card: </a:t>
            </a:r>
            <a:r>
              <a:rPr sz="1500">
                <a:solidFill>
                  <a:srgbClr val="0B2E3A"/>
                </a:solidFill>
                <a:latin typeface="Calibri"/>
              </a:rPr>
              <a:t>scripts/fetch_bitstreams.sh, then bench/run_card.py on a U55C host.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B70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0"/>
                </a:solidFill>
                <a:latin typeface="Calibri"/>
              </a:rPr>
              <a:t>Calibration aware pre-decoding on one U55C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3A"/>
                </a:solidFill>
                <a:latin typeface="Cambria"/>
              </a:rPr>
              <a:t>Run d = 1, 2, 3, 5 in one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766560" cy="1188720"/>
          </a:xfrm>
          <a:prstGeom prst="roundRect">
            <a:avLst>
              <a:gd name="adj" fmla="val 6000"/>
            </a:avLst>
          </a:prstGeom>
          <a:solidFill>
            <a:srgbClr val="0B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python examples/small_codes.py \</a:t>
            </a:r>
          </a:p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  data/calibration/ibm_kingston_2026-04-15.csv \</a:t>
            </a:r>
          </a:p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  --d 1 2 3 5 --rounds 5 --scale 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880360"/>
          <a:ext cx="67665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1554480"/>
            <a:ext cx="3840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b="1" sz="1500">
                <a:solidFill>
                  <a:srgbClr val="0B2E3A"/>
                </a:solidFill>
                <a:latin typeface="Calibri"/>
              </a:rPr>
              <a:t>d = 1: </a:t>
            </a:r>
            <a:r>
              <a:rPr sz="1500">
                <a:solidFill>
                  <a:srgbClr val="0B2E3A"/>
                </a:solidFill>
                <a:latin typeface="Calibri"/>
              </a:rPr>
              <a:t>one bare qubit; the bar every code must beat.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b="1" sz="1500">
                <a:solidFill>
                  <a:srgbClr val="0B2E3A"/>
                </a:solidFill>
                <a:latin typeface="Calibri"/>
              </a:rPr>
              <a:t>d = 2: </a:t>
            </a:r>
            <a:r>
              <a:rPr sz="1500">
                <a:solidFill>
                  <a:srgbClr val="0B2E3A"/>
                </a:solidFill>
                <a:latin typeface="Calibri"/>
              </a:rPr>
              <a:t>detects but cannot correct: 51% of shots are thrown away at scale 1 to get the low rate shown.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b="1" sz="1500">
                <a:solidFill>
                  <a:srgbClr val="0B2E3A"/>
                </a:solidFill>
                <a:latin typeface="Calibri"/>
              </a:rPr>
              <a:t>d = 3, 5: </a:t>
            </a:r>
            <a:r>
              <a:rPr sz="1500">
                <a:solidFill>
                  <a:srgbClr val="0B2E3A"/>
                </a:solidFill>
                <a:latin typeface="Calibri"/>
              </a:rPr>
              <a:t>decoded by PyMatching; larger d wins when the device is below threshold.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B70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0"/>
                </a:solidFill>
                <a:latin typeface="Calibri"/>
              </a:rPr>
              <a:t>Calibration aware pre-decoding on one U55C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3A"/>
                </a:solidFill>
                <a:latin typeface="Cambria"/>
              </a:rPr>
              <a:t>What d = 1 and d = 2 can and cannot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206240"/>
          </a:xfrm>
          <a:prstGeom prst="roundRect">
            <a:avLst>
              <a:gd name="adj" fmla="val 6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6F7A"/>
                </a:solidFill>
                <a:latin typeface="Cambria"/>
              </a:rPr>
              <a:t>d = 1: no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724247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rgbClr val="0B2E3A"/>
                </a:solidFill>
                <a:latin typeface="Calibri"/>
              </a:rPr>
              <a:t>One physical qubit, measured at the end.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rgbClr val="0B2E3A"/>
                </a:solidFill>
                <a:latin typeface="Calibri"/>
              </a:rPr>
              <a:t>Every error in T1, T2 or readout is a logical error.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rgbClr val="0B2E3A"/>
                </a:solidFill>
                <a:latin typeface="Calibri"/>
              </a:rPr>
              <a:t>Error grows with the time it waits: the reference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645920"/>
            <a:ext cx="5364327" cy="4206240"/>
          </a:xfrm>
          <a:prstGeom prst="roundRect">
            <a:avLst>
              <a:gd name="adj" fmla="val 6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874519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6F7A"/>
                </a:solidFill>
                <a:latin typeface="Cambria"/>
              </a:rPr>
              <a:t>d = 2: detection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606040"/>
            <a:ext cx="4724247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rgbClr val="0B2E3A"/>
                </a:solidFill>
                <a:latin typeface="Calibri"/>
              </a:rPr>
              <a:t>Four data qubits, three checks.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rgbClr val="0B2E3A"/>
                </a:solidFill>
                <a:latin typeface="Calibri"/>
              </a:rPr>
              <a:t>Any single error raises a flag, but two different errors raise the same flag.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rgbClr val="0B2E3A"/>
                </a:solidFill>
                <a:latin typeface="Calibri"/>
              </a:rPr>
              <a:t>So it can only discard flagged shots (post-selection); d = 3 is the smallest code that corrects.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B70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0"/>
                </a:solidFill>
                <a:latin typeface="Calibri"/>
              </a:rPr>
              <a:t>Calibration aware pre-decoding on one U55C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3A"/>
                </a:solidFill>
                <a:latin typeface="Cambria"/>
              </a:rPr>
              <a:t>Run the full pipeline at d = 3 and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949440" cy="1188720"/>
          </a:xfrm>
          <a:prstGeom prst="roundRect">
            <a:avLst>
              <a:gd name="adj" fmla="val 6000"/>
            </a:avLst>
          </a:prstGeom>
          <a:solidFill>
            <a:srgbClr val="0B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492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python bench/eval_ler.py \</a:t>
            </a:r>
          </a:p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  --csv data/calibration/ibm_aachen_2026-04-17.csv \</a:t>
            </a:r>
          </a:p>
          <a:p>
            <a:pPr algn="l"/>
            <a:r>
              <a:rPr sz="1400" b="0">
                <a:solidFill>
                  <a:srgbClr val="E6F0F1"/>
                </a:solidFill>
                <a:latin typeface="Courier New"/>
              </a:rPr>
              <a:t>  --mode median --scale 1 --d 5 --basis X --shots 20000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926080"/>
          <a:ext cx="69494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3035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Decoder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3A"/>
                          </a:solidFill>
                          <a:latin typeface="Calibri"/>
                        </a:rPr>
                        <a:t>pm_cal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B2E3A"/>
                          </a:solidFill>
                          <a:latin typeface="Calibri"/>
                        </a:rPr>
                        <a:t>PyMatching with every qubit's own error rates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3A"/>
                          </a:solidFill>
                          <a:latin typeface="Calibri"/>
                        </a:rPr>
                        <a:t>pm_median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B2E3A"/>
                          </a:solidFill>
                          <a:latin typeface="Calibri"/>
                        </a:rPr>
                        <a:t>PyMatching with the device medians only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3A"/>
                          </a:solidFill>
                          <a:latin typeface="Calibri"/>
                        </a:rPr>
                        <a:t>fast_fp32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B2E3A"/>
                          </a:solidFill>
                          <a:latin typeface="Calibri"/>
                        </a:rPr>
                        <a:t>NVIDIA Fast pre-decoder (float), then pm_cal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3A"/>
                          </a:solidFill>
                          <a:latin typeface="Calibri"/>
                        </a:rPr>
                        <a:t>fast_int8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B2E3A"/>
                          </a:solidFill>
                          <a:latin typeface="Calibri"/>
                        </a:rPr>
                        <a:t>integer pre-decoder, as on the card, then pm_cal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B2E3A"/>
                          </a:solidFill>
                          <a:latin typeface="Calibri"/>
                        </a:rPr>
                        <a:t>pm_corr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B2E3A"/>
                          </a:solidFill>
                          <a:latin typeface="Calibri"/>
                        </a:rPr>
                        <a:t>PyMatching with correlations (bench/eval_corr.py)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55280" y="155448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b="1" sz="1500">
                <a:solidFill>
                  <a:srgbClr val="0B2E3A"/>
                </a:solidFill>
                <a:latin typeface="Calibri"/>
              </a:rPr>
              <a:t>--mode: </a:t>
            </a:r>
            <a:r>
              <a:rPr sz="1500">
                <a:solidFill>
                  <a:srgbClr val="0B2E3A"/>
                </a:solidFill>
                <a:latin typeface="Calibri"/>
              </a:rPr>
              <a:t>median, best (lowest error qubits) or screened (random, worst 10% removed).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b="1" sz="1500">
                <a:solidFill>
                  <a:srgbClr val="0B2E3A"/>
                </a:solidFill>
                <a:latin typeface="Calibri"/>
              </a:rPr>
              <a:t>--scale: </a:t>
            </a:r>
            <a:r>
              <a:rPr sz="1500">
                <a:solidFill>
                  <a:srgbClr val="0B2E3A"/>
                </a:solidFill>
                <a:latin typeface="Calibri"/>
              </a:rPr>
              <a:t>1 as calibrated; 0.5 halves every error rate.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b="1" sz="1500">
                <a:solidFill>
                  <a:srgbClr val="0B2E3A"/>
                </a:solidFill>
                <a:latin typeface="Calibri"/>
              </a:rPr>
              <a:t>Output: </a:t>
            </a:r>
            <a:r>
              <a:rPr sz="1500">
                <a:solidFill>
                  <a:srgbClr val="0B2E3A"/>
                </a:solidFill>
                <a:latin typeface="Calibri"/>
              </a:rPr>
              <a:t>results/ler/&lt;name&gt;.json and per shot failure bits (.npz).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B70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0"/>
                </a:solidFill>
                <a:latin typeface="Calibri"/>
              </a:rPr>
              <a:t>Calibration aware pre-decoding on one U55C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3A"/>
                </a:solidFill>
                <a:latin typeface="Cambria"/>
              </a:rPr>
              <a:t>Bring your own calibration 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949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8404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Qubit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row key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T1 (us), T2 (us)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idle noise over each layer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Readout assignment error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measurement flip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Prob meas1 prep0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preparation flip (half)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Readout length (ns)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how long data qubits idle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√x (sx) error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one qubit gates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CZ error or ECR error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two qubit gates, "a_b:value;..."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Gate length (ns)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layer duration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Reset length (ns) (optional)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idle during reset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55280" y="155448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0B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7373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F0F1"/>
                </a:solidFill>
                <a:latin typeface="Courier New"/>
              </a:rPr>
              <a:t>python calib/ibm_csv.py summary my.csv</a:t>
            </a:r>
          </a:p>
          <a:p>
            <a:pPr algn="l"/>
            <a:r>
              <a:rPr sz="1200" b="0">
                <a:solidFill>
                  <a:srgbClr val="E6F0F1"/>
                </a:solidFill>
                <a:latin typeface="Courier New"/>
              </a:rPr>
              <a:t>python bench/eval_ler.py --csv my.csv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301752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500">
                <a:solidFill>
                  <a:srgbClr val="0B2E3A"/>
                </a:solidFill>
                <a:latin typeface="Calibri"/>
              </a:rPr>
              <a:t>Headers are matched by keywords, so the IBM dashboard export loads as is.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>
                <a:solidFill>
                  <a:srgbClr val="0B2E3A"/>
                </a:solidFill>
                <a:latin typeface="Calibri"/>
              </a:rPr>
              <a:t>Missing values mark a qubit unusable; it is never placed.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6F0F1"/>
                </a:solidFill>
                <a:latin typeface="Calibri"/>
              </a:rPr>
              <a:t>200,000 shots per basis and point; X and Z pooled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B70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0"/>
                </a:solidFill>
                <a:latin typeface="Calibri"/>
              </a:rPr>
              <a:t>Calibration aware pre-decoding on one U55C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3A"/>
                </a:solidFill>
                <a:latin typeface="Cambria"/>
              </a:rPr>
              <a:t>At d = 5, correlated matching beats the pre-decoder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B70"/>
                </a:solidFill>
                <a:latin typeface="Calibri"/>
              </a:rPr>
              <a:t>Failures of INT8 pre-decoder + PyMatching divided by each baseline; d = 5, median placement, as calibrated (scale 1)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91640"/>
          <a:ext cx="786384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778240" y="1828800"/>
            <a:ext cx="2834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500">
                <a:solidFill>
                  <a:srgbClr val="0B2E3A"/>
                </a:solidFill>
                <a:latin typeface="Calibri"/>
              </a:rPr>
              <a:t>Teal below 1: the network removes errors plain matching gets wrong.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>
                <a:solidFill>
                  <a:srgbClr val="0B2E3A"/>
                </a:solidFill>
                <a:latin typeface="Calibri"/>
              </a:rPr>
              <a:t>Amber above 1: correlated matching fixes the same errors, and more, without a network.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>
                <a:solidFill>
                  <a:srgbClr val="0B2E3A"/>
                </a:solidFill>
                <a:latin typeface="Calibri"/>
              </a:rPr>
              <a:t>Putting the network in front of correlated matching does not help either.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B70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0"/>
                </a:solidFill>
                <a:latin typeface="Calibri"/>
              </a:rPr>
              <a:t>Calibration aware pre-decoding on one U55C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3A"/>
                </a:solidFill>
                <a:latin typeface="Cambria"/>
              </a:rPr>
              <a:t>Where the pre-decoder still pays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B70"/>
                </a:solidFill>
                <a:latin typeface="Calibri"/>
              </a:rPr>
              <a:t>Significant wins and losses of INT8 pre-decoder + PyMatching, all placements and scales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7315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48640"/>
                <a:gridCol w="914400"/>
                <a:gridCol w="1280160"/>
                <a:gridCol w="12801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pre-decoder better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pre-decoder worse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failure ratio range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PyMatching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0.85 to 1.17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PyMatching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0.64 to 1.06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correlated PyMatching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0.73 to 1.20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correlated PyMatching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1.07 to 1.61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1828800"/>
            <a:ext cx="3383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b="1" sz="1500">
                <a:solidFill>
                  <a:srgbClr val="0B2E3A"/>
                </a:solidFill>
                <a:latin typeface="Calibri"/>
              </a:rPr>
              <a:t>d = 3, low noise: </a:t>
            </a:r>
            <a:r>
              <a:rPr sz="1500">
                <a:solidFill>
                  <a:srgbClr val="0B2E3A"/>
                </a:solidFill>
                <a:latin typeface="Calibri"/>
              </a:rPr>
              <a:t>correlated matching gets worse than plain matching there; the network does not, so it wins.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b="1" sz="1500">
                <a:solidFill>
                  <a:srgbClr val="0B2E3A"/>
                </a:solidFill>
                <a:latin typeface="Calibri"/>
              </a:rPr>
              <a:t>Uneven qubits: </a:t>
            </a:r>
            <a:r>
              <a:rPr sz="1500">
                <a:solidFill>
                  <a:srgbClr val="0B2E3A"/>
                </a:solidFill>
                <a:latin typeface="Calibri"/>
              </a:rPr>
              <a:t>on Kingston's screened placements it even makes plain matching worse (up to 17% more failures).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B70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0"/>
                </a:solidFill>
                <a:latin typeface="Calibri"/>
              </a:rPr>
              <a:t>Calibration aware pre-decoding on one U55C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3A"/>
                </a:solidFill>
                <a:latin typeface="Cambria"/>
              </a:rPr>
              <a:t>Per qubit rates make PyMatching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B70"/>
                </a:solidFill>
                <a:latin typeface="Calibri"/>
              </a:rPr>
              <a:t>Failures with device median weights divided by failures with each qubit's own weights (best and screened placements)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6F7A"/>
                </a:solidFill>
                <a:latin typeface="Cambria"/>
              </a:rPr>
              <a:t>1.04x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3A"/>
                </a:solidFill>
                <a:latin typeface="Calibri"/>
              </a:rPr>
              <a:t>median ratio over all heterogeneous 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73736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92024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6F7A"/>
                </a:solidFill>
                <a:latin typeface="Cambria"/>
              </a:rPr>
              <a:t>1.16x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974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3A"/>
                </a:solidFill>
                <a:latin typeface="Calibri"/>
              </a:rPr>
              <a:t>largest ratio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73736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E6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92024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6F7A"/>
                </a:solidFill>
                <a:latin typeface="Cambria"/>
              </a:rPr>
              <a:t>39 of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6974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2E3A"/>
                </a:solidFill>
                <a:latin typeface="Calibri"/>
              </a:rPr>
              <a:t>points where median weights are significantly worse (p &lt; 0.05)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1109441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rgbClr val="0B2E3A"/>
                </a:solidFill>
                <a:latin typeface="Calibri"/>
              </a:rPr>
              <a:t>The CSV is not only for simulation: its numbers become the matching weights.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rgbClr val="0B2E3A"/>
                </a:solidFill>
                <a:latin typeface="Calibri"/>
              </a:rPr>
              <a:t>This needs no network and no FPGA, only the calibration file.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B70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0"/>
                </a:solidFill>
                <a:latin typeface="Calibri"/>
              </a:rPr>
              <a:t>Calibration aware pre-decoding on one U55C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3A"/>
                </a:solidFill>
                <a:latin typeface="Cambria"/>
              </a:rPr>
              <a:t>One U55C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B70"/>
                </a:solidFill>
                <a:latin typeface="Calibri"/>
              </a:rPr>
              <a:t>Same bitstream as the four card study; weights and window size are launch arguments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91640"/>
          <a:ext cx="694944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55280" y="1737360"/>
          <a:ext cx="3657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3774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one window (ms)</a:t>
                      </a:r>
                    </a:p>
                  </a:txBody>
                  <a:tcPr marL="73152" marR="73152">
                    <a:solidFill>
                      <a:srgbClr val="1F6F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1.50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2.34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3.84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6.21</a:t>
                      </a:r>
                    </a:p>
                  </a:txBody>
                  <a:tcPr marL="73152" marR="73152">
                    <a:solidFill>
                      <a:srgbClr val="E6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2E3A"/>
                          </a:solidFill>
                          <a:latin typeface="Calibri"/>
                        </a:rPr>
                        <a:t>9.56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55280" y="457200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2E3A"/>
                </a:solidFill>
                <a:latin typeface="Calibri"/>
              </a:rPr>
              <a:t>Bit exact in 18 of 18 runs; logical failures from the card's bits equal the CPU integer model's shot for shot in 14 of 14 compared runs.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B6B70"/>
                </a:solidFill>
                <a:latin typeface="Calibr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0"/>
                </a:solidFill>
                <a:latin typeface="Calibri"/>
              </a:rPr>
              <a:t>Calibration aware pre-decoding on one U55C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2E3A"/>
                </a:solidFill>
                <a:latin typeface="Cambria"/>
              </a:rPr>
              <a:t>What this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b="1" sz="1700">
                <a:solidFill>
                  <a:srgbClr val="0B2E3A"/>
                </a:solidFill>
                <a:latin typeface="Calibri"/>
              </a:rPr>
              <a:t>Not a hardware QEC run: </a:t>
            </a:r>
            <a:r>
              <a:rPr sz="1700">
                <a:solidFill>
                  <a:srgbClr val="0B2E3A"/>
                </a:solidFill>
                <a:latin typeface="Calibri"/>
              </a:rPr>
              <a:t>no circuit ran on IBM devices; calibrations set the rates of a simulated circuit.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b="1" sz="1700">
                <a:solidFill>
                  <a:srgbClr val="0B2E3A"/>
                </a:solidFill>
                <a:latin typeface="Calibri"/>
              </a:rPr>
              <a:t>No chip embedding: </a:t>
            </a:r>
            <a:r>
              <a:rPr sz="1700">
                <a:solidFill>
                  <a:srgbClr val="0B2E3A"/>
                </a:solidFill>
                <a:latin typeface="Calibri"/>
              </a:rPr>
              <a:t>IBM chips are heavy hexagonal; code qubits are placed by a rule, without SWAPs.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b="1" sz="1700">
                <a:solidFill>
                  <a:srgbClr val="0B2E3A"/>
                </a:solidFill>
                <a:latin typeface="Calibri"/>
              </a:rPr>
              <a:t>Model assumptions: </a:t>
            </a:r>
            <a:r>
              <a:rPr sz="1700">
                <a:solidFill>
                  <a:srgbClr val="0B2E3A"/>
                </a:solidFill>
                <a:latin typeface="Calibri"/>
              </a:rPr>
              <a:t>depolarizing gates, T1 and T2 idle decay, half of Prob meas1 prep0 as preparation error; no leakage or crosstalk.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b="1" sz="1700">
                <a:solidFill>
                  <a:srgbClr val="0B2E3A"/>
                </a:solidFill>
                <a:latin typeface="Calibri"/>
              </a:rPr>
              <a:t>Not real time: </a:t>
            </a:r>
            <a:r>
              <a:rPr sz="1700">
                <a:solidFill>
                  <a:srgbClr val="0B2E3A"/>
                </a:solidFill>
                <a:latin typeface="Calibri"/>
              </a:rPr>
              <a:t>card latency includes PCIe and runtime overheads; one big CPU is as fast for this network.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2000">
                <a:solidFill>
                  <a:srgbClr val="E6F0F1"/>
                </a:solidFill>
                <a:latin typeface="Calibri"/>
              </a:rPr>
              <a:t>Try your own device CSV with examples/small_codes.py, then bench/eval_ler.py.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2000">
                <a:solidFill>
                  <a:srgbClr val="E6F0F1"/>
                </a:solidFill>
                <a:latin typeface="Calibri"/>
              </a:rPr>
              <a:t>Fine tune the network on one device's calibrated noise, and compare with correlated matching.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2000">
                <a:solidFill>
                  <a:srgbClr val="E6F0F1"/>
                </a:solidFill>
                <a:latin typeface="Calibri"/>
              </a:rPr>
              <a:t>Feed fresh calibrations daily and watch the decoder track drift.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2000">
                <a:solidFill>
                  <a:srgbClr val="E6F0F1"/>
                </a:solidFill>
                <a:latin typeface="Calibri"/>
              </a:rPr>
              <a:t>Repository: github.com/nasir26/u55c-calibrated-predecoder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